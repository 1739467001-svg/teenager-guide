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这一节 90 分钟：60 分钟交叉试玩，30 分钟公示分数与讲解。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不要提前说会量出什么结果。让他们自己测。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这句是全表的定义。写在白板上，一整天不擦。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先把原来这四条摆出来，再讲为什么不够用。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条是最要命的，讲慢一点。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三层是有顺序的：先跑 A，A 过了才算 B，C 独立否决。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这六条对应昨天公布的四条红线，加上退出和数据两条。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这一页要讲透。学员会想「可是我别的地方做得很好啊」。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介绍五个维度。下面五页每维展开一页。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这一页是方法本身。讲清楚了，剩下 14 题他们自己看得懂。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这一条是全表的价值观。拿满分的产品，目标是让你少看它。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U3 是这张表的灵魂，单独一页讲。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这一页停久一点。很多人会在这里想起自己的某个 App。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先跑 A，A 过了才算 B 层总分，然后看三条独立否决。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这一页是最好的教学案例。先量危险版，A 层第一条就挂了。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让他们知道这把尺会一直跟着他们，不是一个环节。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收尾。接下来发解药版任务书。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10515600" cy="173736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25400" dir="5400000">
              <a:srgbClr val="5A1A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6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弹性尺</a:t>
            </a:r>
            <a:endParaRPr lang="en-US" sz="7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46120"/>
            <a:ext cx="10058400" cy="566928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5400000">
              <a:srgbClr val="5A1A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量一量：你做的东西，是在帮人，还是在逼人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069080"/>
            <a:ext cx="274320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5400000">
              <a:srgbClr val="5A1A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· 9:15 – 10:45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3703320" y="4069080"/>
            <a:ext cx="274320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5400000">
              <a:srgbClr val="5A1A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交叉试玩 + 测评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537960" y="4069080"/>
            <a:ext cx="274320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5400000">
              <a:srgbClr val="5A1A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《上瘾自律》两天AI创造营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8A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为什么要有一把尺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昨天你们做的东西，今天要量一量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11064240" cy="1600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10"/>
              </a:lnSpc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「好玩」这件事，你们自己知道。</a:t>
            </a:r>
            <a:endParaRPr lang="en-US" sz="3800" dirty="0"/>
          </a:p>
          <a:p>
            <a:pPr indent="0" marL="0">
              <a:lnSpc>
                <a:spcPts val="5510"/>
              </a:lnSpc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但好玩不等于对人好。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548640" y="4023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4E8"/>
          </a:solidFill>
          <a:ln w="19050">
            <a:solidFill>
              <a:srgbClr val="FF8A1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4078224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所以需要一把尺 —— 它不测好不好玩，它测一件完全不同的事。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D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这把尺只问一个问题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246888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25400" dir="5400000">
              <a:srgbClr val="5A1A00">
                <a:alpha val="42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lnSpc>
                <a:spcPts val="63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这个产品，</a:t>
            </a:r>
            <a:endParaRPr lang="en-US" sz="4200" dirty="0"/>
          </a:p>
          <a:p>
            <a:pPr indent="0" marL="0">
              <a:lnSpc>
                <a:spcPts val="63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把选择权留给用户了吗？</a:t>
            </a:r>
            <a:endParaRPr lang="en-US" sz="4200" dirty="0"/>
          </a:p>
          <a:p>
            <a:pPr indent="0" marL="0">
              <a:lnSpc>
                <a:spcPts val="63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还是逼着用户就范？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526280"/>
            <a:ext cx="10332720" cy="1417320"/>
          </a:xfrm>
          <a:prstGeom prst="rect">
            <a:avLst/>
          </a:prstGeom>
          <a:noFill/>
          <a:ln/>
          <a:effectLst>
            <a:outerShdw sx="100000" sy="100000" kx="0" ky="0" algn="bl" rotWithShape="0" blurRad="88900" dist="25400" dir="5400000">
              <a:srgbClr val="5A1A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 = 你能不能改它　　非胁迫 = 你不改它，它也不整你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8A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最早的四条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原来我们只有四个问题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方向是对的。但它们其实在问同一件事的四个角度。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468880"/>
                <a:gridCol w="3017520"/>
                <a:gridCol w="29260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原来的问法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它其实在问什么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03A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不合格长什么样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7F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合格长什么样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能自由设定使用时长吗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谁在定规矩？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写死每天 1 小时，或者藏在五层设置里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打开就能改，改小了也不影响功能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未完成有惩罚吗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搞砸了会怎样？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 天记录清零、掉段位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断了就断了，进度还在，可以补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允许休息日吗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能不能光明正大地不用？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休息 = 断签 = 掉级 + 被推送催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休息日是事先能设的功能，不掉级不催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酬赏让人焦虑吗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奖励是让你开心，还是让你怕？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抽卡、限时、「差一点就进前十」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这月 25kg，上月 20kg。可关，不比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8A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但是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这四条不够用 —— 五个问题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不是写错了，是没法拿来打分。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2402332"/>
            <a:ext cx="457200" cy="457200"/>
          </a:xfrm>
          <a:prstGeom prst="ellipse">
            <a:avLst/>
          </a:prstGeom>
          <a:solidFill>
            <a:srgbClr val="F03A2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6928" y="24023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225296" y="228600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只能答「有 / 没有」，没法打分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一个温和提醒算不算「有惩罚」？两个组会给出完全不同的答案。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66928" y="3220212"/>
            <a:ext cx="457200" cy="457200"/>
          </a:xfrm>
          <a:prstGeom prst="ellipse">
            <a:avLst/>
          </a:prstGeom>
          <a:solidFill>
            <a:srgbClr val="F03A2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32202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25296" y="310388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「过度惩罚」没有定义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什么叫过度？清零算吗？发一条「你已经断了 3 天」算吗？没锚点就没法比较。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66928" y="4038092"/>
            <a:ext cx="457200" cy="457200"/>
          </a:xfrm>
          <a:prstGeom prst="ellipse">
            <a:avLst/>
          </a:prstGeom>
          <a:solidFill>
            <a:srgbClr val="F03A2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6928" y="4038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225296" y="392176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红线和普通扣分混在一起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一个产品可以在 ①②③ 上做得很好，但藏了一个抽卡系统 —— 四条平均一下，它还是「良好」。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66928" y="4855972"/>
            <a:ext cx="457200" cy="457200"/>
          </a:xfrm>
          <a:prstGeom prst="ellipse">
            <a:avLst/>
          </a:prstGeom>
          <a:solidFill>
            <a:srgbClr val="F03A2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66928" y="48559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225296" y="473964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漏了四块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数据与隐私、夜间与睡眠、有没有自然终点、退出和删除路径。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66928" y="5673852"/>
            <a:ext cx="457200" cy="457200"/>
          </a:xfrm>
          <a:prstGeom prst="ellipse">
            <a:avLst/>
          </a:prstGeom>
          <a:solidFill>
            <a:srgbClr val="F03A2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66928" y="56738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225296" y="555752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用的人自己的感受进不了分数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纸面上四条全过，但试玩的人就是觉得被逼 —— 这个感受必须算数。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8A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所以拆成三层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弹性尺 v2.0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349300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257860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3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层 · 一票否决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26080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 6 题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367659"/>
            <a:ext cx="2944368" cy="1277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/ 否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任何一条命中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不计分，先整改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4256" y="2377440"/>
            <a:ext cx="349300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608576" y="257860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层 · 打分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608576" y="2926080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 15 题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4608576" y="3367659"/>
            <a:ext cx="2944368" cy="1277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 0–3 分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满分 45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每题写清 0/1/2/3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各长什么样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19872" y="2377440"/>
            <a:ext cx="349300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394192" y="257860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层 · 用的人自己填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94192" y="2926080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体感 3 题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8394192" y="3367659"/>
            <a:ext cx="2944368" cy="1277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不计入总分，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但有独立否决权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8A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层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 6 题 —— 任一命中，今天不用往下测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349300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23957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3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不可预测奖励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184779"/>
            <a:ext cx="2944368" cy="50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有抽卡、随机掉落、盲盒、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「差一点就中」吗？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4256" y="2194560"/>
            <a:ext cx="349300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608576" y="23957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3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608576" y="2743200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公开比较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4608576" y="3184779"/>
            <a:ext cx="2944368" cy="50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有排行榜、公开点赞数、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「你排第 N」吗？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19872" y="2194560"/>
            <a:ext cx="349300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394192" y="23957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3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94192" y="2743200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归零惩罚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8394192" y="3184779"/>
            <a:ext cx="2944368" cy="50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中断一次会清零 / 掉级，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而且没法补救吗？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178808"/>
            <a:ext cx="349300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22960" y="437997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3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727448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实质惩罚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5169027"/>
            <a:ext cx="2944368" cy="50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有扣钱、扣资格、锁功能、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公开点名吗？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334256" y="4178808"/>
            <a:ext cx="349300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608576" y="437997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3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R5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608576" y="4727448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出不去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4608576" y="5169027"/>
            <a:ext cx="2944368" cy="50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 / 关闭 / 卸载的入口，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步之内找得到吗？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119872" y="4178808"/>
            <a:ext cx="349300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394192" y="437997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3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R6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394192" y="4727448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数据留痕</a:t>
            </a:r>
            <a:endParaRPr lang="en-US" sz="2100" dirty="0"/>
          </a:p>
        </p:txBody>
      </p:sp>
      <p:sp>
        <p:nvSpPr>
          <p:cNvPr id="30" name="Text 27"/>
          <p:cNvSpPr txBox="1"/>
          <p:nvPr/>
        </p:nvSpPr>
        <p:spPr>
          <a:xfrm>
            <a:off x="8394192" y="5169027"/>
            <a:ext cx="2944368" cy="50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收了用不上的信息吗？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收了能删掉吗？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D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为什么红线要一票否决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246888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25400" dir="5400000">
              <a:srgbClr val="5A1A00">
                <a:alpha val="42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lnSpc>
                <a:spcPts val="69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这六条不是「做得不够好」，</a:t>
            </a:r>
            <a:endParaRPr lang="en-US" sz="4600" dirty="0"/>
          </a:p>
          <a:p>
            <a:pPr indent="0" marL="0">
              <a:lnSpc>
                <a:spcPts val="69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是方向反了。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526280"/>
            <a:ext cx="10332720" cy="1417320"/>
          </a:xfrm>
          <a:prstGeom prst="rect">
            <a:avLst/>
          </a:prstGeom>
          <a:noFill/>
          <a:ln/>
          <a:effectLst>
            <a:outerShdw sx="100000" sy="100000" kx="0" ky="0" algn="bl" rotWithShape="0" blurRad="88900" dist="25400" dir="5400000">
              <a:srgbClr val="5A1A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一个有抽卡系统的自律 App，其它地方做得越精致，伤害越大 —— 因为更多人会留下来被它伤到。平均分会把它藏起来，红线不会。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8A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层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五个维度，每维 3 题，每题 0–3 分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两个人分别独立打分，不许商量。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1978762" cy="2560320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2578608"/>
            <a:ext cx="1430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/9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26080"/>
            <a:ext cx="1430122" cy="42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自主权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93999"/>
            <a:ext cx="1430122" cy="144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谁在定规矩？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时长谁定 · 目标谁定 · 改的代价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820010" y="2377440"/>
            <a:ext cx="1978762" cy="2560320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094330" y="2578608"/>
            <a:ext cx="1430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/9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094330" y="2926080"/>
            <a:ext cx="1430122" cy="42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退出权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094330" y="3293999"/>
            <a:ext cx="1430122" cy="144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能不能停？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 · 退出 · 数据带走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91379" y="2377440"/>
            <a:ext cx="1978762" cy="2560320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365699" y="2578608"/>
            <a:ext cx="1430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/9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365699" y="2926080"/>
            <a:ext cx="1430122" cy="42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酬赏诚实度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365699" y="3293999"/>
            <a:ext cx="1430122" cy="144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奖励说不说实话？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可预测 · 挂钩真实能力 · 可关不比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362749" y="2377440"/>
            <a:ext cx="1978762" cy="2560320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637069" y="2578608"/>
            <a:ext cx="1430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/9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637069" y="2926080"/>
            <a:ext cx="1430122" cy="42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失败宽容度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637069" y="3293999"/>
            <a:ext cx="1430122" cy="144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搞砸了会怎样？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未完成后果 · 休息日 · 回归成本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34118" y="2377440"/>
            <a:ext cx="1978762" cy="2560320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9908438" y="2578608"/>
            <a:ext cx="1430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7F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/9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908438" y="2926080"/>
            <a:ext cx="1430122" cy="42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生活边界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9908438" y="3293999"/>
            <a:ext cx="1430122" cy="144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会不会啃掉你的生活？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夜间 · 自然终点 · 线下与关系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8A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层 · 怎么打分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每一题都写清 0/1/2/3 各长什么样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这样两个 14 岁才能打出接近的分数。以「时长谁定」为例：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743200"/>
                <a:gridCol w="301752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03A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7F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写死了，改不了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能改，但藏得很深／要好几步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能改，主界面找得到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3B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首次使用就让用户自己设，随时能改，改小了也不影响功能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7091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4E8"/>
          </a:solidFill>
          <a:ln w="19050">
            <a:solidFill>
              <a:srgbClr val="FF8A1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41248" y="4764024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打分规则：两人独立打 → 任何一题相差 ≥ 2 分，当场把产品打开，对着屏幕重打一次。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669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差异题必须写一句「我为什么这么打」，写进反馈清单。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8A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层 · 最狠的一条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L3：核心动作发生在屏幕里，还是屏幕外？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5385816" cy="2926080"/>
          </a:xfrm>
          <a:prstGeom prst="roundRect">
            <a:avLst>
              <a:gd name="adj" fmla="val 2813"/>
            </a:avLst>
          </a:prstGeom>
          <a:solidFill>
            <a:srgbClr val="FFF2F0"/>
          </a:solidFill>
          <a:ln w="19050">
            <a:solidFill>
              <a:srgbClr val="F03A2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" y="2523744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3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分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871216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全都在屏幕里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877056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App 才算「做了」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停留时间越长越好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核心体验就是滑动和点击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离开 App = 中断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27064" y="2286000"/>
            <a:ext cx="5385816" cy="2926080"/>
          </a:xfrm>
          <a:prstGeom prst="roundRect">
            <a:avLst>
              <a:gd name="adj" fmla="val 2813"/>
            </a:avLst>
          </a:prstGeom>
          <a:solidFill>
            <a:srgbClr val="F0FAF3"/>
          </a:solidFill>
          <a:ln w="19050">
            <a:solidFill>
              <a:srgbClr val="1E9E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2523744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E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分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19672" y="2871216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核心动作在屏幕外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519672" y="3877056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真正的事发生在健身房、操场、书桌前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只负责记录和反馈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用得越少，说明做得越好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离开 App = 正在做事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DECEA"/>
          </a:solidFill>
          <a:ln w="19050">
            <a:solidFill>
              <a:srgbClr val="F03A2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" y="5495544"/>
            <a:ext cx="10515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拿满 L3，意味着这个 App 的目标是：让你少看它。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8A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层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最后三题，试玩的人自己填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匿名。不计入总分，但有独立否决权。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2537460"/>
            <a:ext cx="457200" cy="457200"/>
          </a:xfrm>
          <a:prstGeom prst="ellipse">
            <a:avLst/>
          </a:prstGeom>
          <a:solidFill>
            <a:srgbClr val="F03A2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6928" y="2537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225296" y="2286000"/>
            <a:ext cx="9921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5"/>
              </a:lnSpc>
              <a:buNone/>
            </a:pPr>
            <a:r>
              <a:rPr lang="en-US" sz="2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试玩之后，我比试玩之前更焦虑吗？</a:t>
            </a:r>
            <a:endParaRPr lang="en-US" sz="20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完全没有　／　1 有一点　／　2 明显　／　3 很明显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66928" y="3680460"/>
            <a:ext cx="457200" cy="457200"/>
          </a:xfrm>
          <a:prstGeom prst="ellipse">
            <a:avLst/>
          </a:prstGeom>
          <a:solidFill>
            <a:srgbClr val="F03A2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U2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25296" y="3429000"/>
            <a:ext cx="9921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5"/>
              </a:lnSpc>
              <a:buNone/>
            </a:pPr>
            <a:r>
              <a:rPr lang="en-US" sz="2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用的时候，是我在用它，还是它在推着我？</a:t>
            </a:r>
            <a:endParaRPr lang="en-US" sz="20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我在用它　／　1 大部分是我　／　2 有点被推　／　3 一直被推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66928" y="48234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6928" y="4823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U3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225296" y="4572000"/>
            <a:ext cx="9921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5"/>
              </a:lnSpc>
              <a:buNone/>
            </a:pPr>
            <a:r>
              <a:rPr lang="en-US" sz="2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如果明天再用一次，我心里更接近哪个？</a:t>
            </a:r>
            <a:endParaRPr lang="en-US" sz="20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我想再用　　　☐ 我不敢不用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DECEA"/>
          </a:solidFill>
          <a:ln w="19050">
            <a:solidFill>
              <a:srgbClr val="F03A2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" y="5769864"/>
            <a:ext cx="10515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U1 或 U2 ≥ 2 → 强制复盘一次　｜　U3 勾了「我不敢不用」→ 直接按红线处理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D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U3 · 这张表的灵魂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246888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25400" dir="5400000">
              <a:srgbClr val="5A1A00">
                <a:alpha val="42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「我想再用」和「我不敢不用」，</a:t>
            </a:r>
            <a:endParaRPr lang="en-US" sz="4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在后台数据上一模一样。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526280"/>
            <a:ext cx="10332720" cy="1417320"/>
          </a:xfrm>
          <a:prstGeom prst="rect">
            <a:avLst/>
          </a:prstGeom>
          <a:noFill/>
          <a:ln/>
          <a:effectLst>
            <a:outerShdw sx="100000" sy="100000" kx="0" ky="0" algn="bl" rotWithShape="0" blurRad="88900" dist="25400" dir="5400000">
              <a:srgbClr val="5A1A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都是第二天回来了。但一个是喜欢，一个是害怕。公司的后台分不出这两种人 —— 只有用的人自己分得出来。所以必须问。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8A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怎么算出结果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254660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2532888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7F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– 45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1997964" cy="4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弹性优秀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85109"/>
            <a:ext cx="1997964" cy="8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可以路演。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 1 条还能更好的地方。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387852" y="2331720"/>
            <a:ext cx="254660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662172" y="2532888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 – 39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662172" y="2880360"/>
            <a:ext cx="1997964" cy="4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基本合格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3662172" y="3285109"/>
            <a:ext cx="1997964" cy="8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可以路演。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必须当场列出 2 条具体改进。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227064" y="2331720"/>
            <a:ext cx="254660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01384" y="2532888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– 30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501384" y="2880360"/>
            <a:ext cx="1997964" cy="4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结构性问题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6501384" y="3285109"/>
            <a:ext cx="1997964" cy="8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迭代后必须复测，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才能路演。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9066276" y="2331720"/>
            <a:ext cx="254660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F0DCBC"/>
            </a:solidFill>
            <a:prstDash val="solid"/>
          </a:ln>
          <a:effectLst>
            <a:outerShdw sx="100000" sy="100000" kx="0" ky="0" algn="bl" rotWithShape="0" blurRad="152400" dist="25400" dir="5400000">
              <a:srgbClr val="C99A5E">
                <a:alpha val="14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340596" y="2532888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3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– 20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340596" y="2880360"/>
            <a:ext cx="1997964" cy="4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胁迫型设计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9340596" y="3285109"/>
            <a:ext cx="1997964" cy="8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停下来重做核心机制。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改文案解决不了。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548640" y="46634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9050">
            <a:solidFill>
              <a:srgbClr val="F03A2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1248" y="4718304"/>
            <a:ext cx="10515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三条独立否决：任一维度 ≤ 4 分 → 单维告警，总分不作数　｜　U1/U2 ≥ 2 → 强制复盘　｜　U3 勾「不敢不用」→ 按红线处理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8A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示范打分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拿昨天那个健身打卡 App 量一遍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5385816" cy="2926080"/>
          </a:xfrm>
          <a:prstGeom prst="roundRect">
            <a:avLst>
              <a:gd name="adj" fmla="val 2813"/>
            </a:avLst>
          </a:prstGeom>
          <a:solidFill>
            <a:srgbClr val="FFF2F0"/>
          </a:solidFill>
          <a:ln w="19050">
            <a:solidFill>
              <a:srgbClr val="F03A2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" y="2523744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3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危险版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871216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层 R1 → 抽卡掉落 → 是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877056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到此为止，直接不合格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 45 分不用算了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连续记录 / 排行榜 / 差一点进前十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交互很流畅、界面很好看 —— 不抵消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27064" y="2286000"/>
            <a:ext cx="5385816" cy="2926080"/>
          </a:xfrm>
          <a:prstGeom prst="roundRect">
            <a:avLst>
              <a:gd name="adj" fmla="val 2813"/>
            </a:avLst>
          </a:prstGeom>
          <a:solidFill>
            <a:srgbClr val="F0FAF3"/>
          </a:solidFill>
          <a:ln w="19050">
            <a:solidFill>
              <a:srgbClr val="1E9E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2523744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E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安全版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19672" y="2871216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层全过 → B 层 42 / 45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519672" y="3877056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自主权 9　退出权 7　酬赏诚实 9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失败宽容 8　生活边界 9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层：U1=0　U2=0　U3=想再用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 1 条：导出格式改成能打开的文件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DECEA"/>
          </a:solidFill>
          <a:ln w="19050">
            <a:solidFill>
              <a:srgbClr val="F03A2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" y="5495544"/>
            <a:ext cx="10515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学员一定会问：「可是它排行榜做得很好看啊。」—— 好看和流畅，不能抵消红线。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8A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这把尺出现 6 次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不是只用一次的表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75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" y="2322957"/>
            <a:ext cx="457200" cy="457200"/>
          </a:xfrm>
          <a:prstGeom prst="ellipse">
            <a:avLst/>
          </a:prstGeom>
          <a:solidFill>
            <a:srgbClr val="F03A2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232295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225296" y="2240280"/>
            <a:ext cx="9921240" cy="622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75"/>
              </a:lnSpc>
              <a:buNone/>
            </a:pPr>
            <a:r>
              <a:rPr lang="en-US" sz="15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DAY1 10:45　讲师公布四条红线</a:t>
            </a:r>
            <a:endParaRPr lang="en-US" sz="150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就是 A 层的 R1–R4。先知道红线，再去设计。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3046095"/>
            <a:ext cx="457200" cy="457200"/>
          </a:xfrm>
          <a:prstGeom prst="ellipse">
            <a:avLst/>
          </a:prstGeom>
          <a:solidFill>
            <a:srgbClr val="F03A2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" y="304609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225296" y="2963418"/>
            <a:ext cx="9921240" cy="622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75"/>
              </a:lnSpc>
              <a:buNone/>
            </a:pPr>
            <a:r>
              <a:rPr lang="en-US" sz="15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DAY1 14:00　草图阶段自检</a:t>
            </a:r>
            <a:endParaRPr lang="en-US" sz="150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 层 6 题过一遍，别等做完了才发现方向反了。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66928" y="3769233"/>
            <a:ext cx="457200" cy="457200"/>
          </a:xfrm>
          <a:prstGeom prst="ellipse">
            <a:avLst/>
          </a:prstGeom>
          <a:solidFill>
            <a:srgbClr val="FF8A1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66928" y="37692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225296" y="3686556"/>
            <a:ext cx="9921240" cy="622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75"/>
              </a:lnSpc>
              <a:buNone/>
            </a:pPr>
            <a:r>
              <a:rPr lang="en-US" sz="15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 9:15　交叉试玩（主场）</a:t>
            </a:r>
            <a:endParaRPr lang="en-US" sz="150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+ B + C 全跑，每人测另外两组。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66928" y="4492371"/>
            <a:ext cx="457200" cy="457200"/>
          </a:xfrm>
          <a:prstGeom prst="ellipse">
            <a:avLst/>
          </a:prstGeom>
          <a:solidFill>
            <a:srgbClr val="F03A2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66928" y="449237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225296" y="4409694"/>
            <a:ext cx="9921240" cy="622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75"/>
              </a:lnSpc>
              <a:buNone/>
            </a:pPr>
            <a:r>
              <a:rPr lang="en-US" sz="15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 10:30　迭代优先级</a:t>
            </a:r>
            <a:endParaRPr lang="en-US" sz="150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红线项和「任一维 ≤4」的维度，优先级高于所有功能新增。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66928" y="5215509"/>
            <a:ext cx="457200" cy="457200"/>
          </a:xfrm>
          <a:prstGeom prst="ellipse">
            <a:avLst/>
          </a:prstGeom>
          <a:solidFill>
            <a:srgbClr val="F03A2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6928" y="521550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225296" y="5132832"/>
            <a:ext cx="9921240" cy="622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75"/>
              </a:lnSpc>
              <a:buNone/>
            </a:pPr>
            <a:r>
              <a:rPr lang="en-US" sz="15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 15:40　自己复测</a:t>
            </a:r>
            <a:endParaRPr lang="en-US" sz="150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解药版做完先自己量一遍，目标 ≥ 40 分。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66928" y="5938647"/>
            <a:ext cx="457200" cy="457200"/>
          </a:xfrm>
          <a:prstGeom prst="ellipse">
            <a:avLst/>
          </a:prstGeom>
          <a:solidFill>
            <a:srgbClr val="F03A2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66928" y="593864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1225296" y="5855970"/>
            <a:ext cx="9921240" cy="622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75"/>
              </a:lnSpc>
              <a:buNone/>
            </a:pPr>
            <a:r>
              <a:rPr lang="en-US" sz="15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 16:20　路演评分</a:t>
            </a:r>
            <a:endParaRPr lang="en-US" sz="150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3B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评审「弹性与风险防护」这一维，直接用 B 层总分 + 前后分差。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D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量完之后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246888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25400" dir="5400000">
              <a:srgbClr val="5A1A00">
                <a:alpha val="42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一个好的自律工具，</a:t>
            </a:r>
            <a:endParaRPr lang="en-US" sz="4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不是让你离不开它。</a:t>
            </a:r>
            <a:endParaRPr lang="en-US" sz="4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是让你越来越有能力离开它。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526280"/>
            <a:ext cx="10332720" cy="1417320"/>
          </a:xfrm>
          <a:prstGeom prst="rect">
            <a:avLst/>
          </a:prstGeom>
          <a:noFill/>
          <a:ln/>
          <a:effectLst>
            <a:outerShdw sx="100000" sy="100000" kx="0" ky="0" algn="bl" rotWithShape="0" blurRad="88900" dist="25400" dir="5400000">
              <a:srgbClr val="5A1A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如果一个功能让用户更难离开 —— 它就站在这句话的反面，不管它有多好玩。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弹性尺 v2.0 · 非胁迫测评量表</dc:title>
  <dc:subject>PptxGenJS Presentation</dc:subject>
  <dc:creator>超级富AI玩家俱乐部</dc:creator>
  <cp:lastModifiedBy>超级富AI玩家俱乐部</cp:lastModifiedBy>
  <cp:revision>1</cp:revision>
  <dcterms:created xsi:type="dcterms:W3CDTF">2026-09-04T19:03:37Z</dcterms:created>
  <dcterms:modified xsi:type="dcterms:W3CDTF">2026-09-04T19:03:37Z</dcterms:modified>
</cp:coreProperties>
</file>