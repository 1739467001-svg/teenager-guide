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开场不要先讲课。先让所有人把手机拿出来，屏幕朝下放在桌上。等所有人都放好。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等他们全部放好，再说话。然后问那个问题，问完停 3 秒，不要自己答。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这句要轻，不要煽情。说完直接进下一页。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这一页是整个营的地图。讲慢一点，他们要记住这三个词。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这一页你讲得越平实越好。不要煽情，就说事实。你的底牌就是这三行。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这三条要认真讲，不要当免责声明念过去。尤其第二条，说完看一眼全场。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Day1 的主线是：先让他们看懂，再让他们亲手做一个。不要在 Day1 讲伦理，忍住。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让他们喊。不要选抖音——太熟了他们会背答案。选第二个喊出来的。写在白板上。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追问的固定句式：「具体是哪个界面上的哪个东西？」—— 把抽象答案逼成具体设计。这句要问至少三次。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这一步会突然安静下来。让它安静。安静就是他们在算。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指着白板上这两个数。这一页是全课的地基，不要赶。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这句说完停一下。这是全课十二条判据里的第一条，后面会反复用到。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一定会有人说「卸载」。就等这句。然后问那个反问。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这一页是身份的切换。讲完这页，他们看手机的眼神会变。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总览页。四步先都提一下，后面每步单独讲 3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内部触发这段讲慢。问一句「谁能说一个自己的内部触发」，最多听两个，不追问、不点评。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重点讲「降低难度比说服更管用」。举那个例子：你妈说了多少次少玩点手机？没用。但手机不在房间你就是不会去拿。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这一页很重要。他们下午用 AI 写代码时会想「让 AI 直接给答案」——那就是拆错了摩擦。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先说反直觉那句，停一下，再讲鸽子。讲鸽子必须补一句「这是鸽子，鸽子不用写作业」。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这一页是全场最容易「哦——」的一页。说完停两秒。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这一页要为下午的需求诊断埋伏笔。最后那句是钥匙。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折纸实验讲完补一句「样本是美国大学生，不是初中生」。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Day1 的情绪高点。说完停三秒再进下一段。有人会松一口气。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这里现场演示一次：让 AI 说一个研究的数字，然后打开原书 PDF 找不到。这个演示是全课最有说服力的一分钟。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组内两人一组，互为案主和教练。教练只能问，不能给建议。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发任务书。这一段学员会非常兴奋 —— 让他们兴奋，别压。伦理明天再讲。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强调「标出来」——明天交叉试玩要用。不标的话明天没法对照。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第四条要认真说。真的有人不想做魔王版，要让他知道这不影响任何评分。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⚠️ 说完直接下课。不要总结，不要解释，不要讨论。这个问题必须过夜 —— 当场讨论会变成表态，过一夜才会变成想法。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今天上午是全营最关键的两小时。你的任务是：不救场。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⚠️ 这一小时你只做一件事：不干预，也不评论。让分数自己说话。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⚠️ 分数会一起崩掉。会有点尴尬。让那个尴尬停留一会儿 —— 不要赶紧安慰，不要赶紧翻页。然后只问一句。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这就是为什么昨天没讲伦理。红线是被发现的，不是被通知的。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让全场跟着读一遍。这四条后面在草图自检、迭代、路演评分里会反复出现。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Day2 的核心。讲之前先问：昨天那两个版本，哪个看起来更好玩？等他们说「危险的那个」，然后说「我也觉得」。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这四步和 Hooked 四步一一对应，画在白板上左右对照。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现场做一次：闭眼三秒，问自己「我现在身体哪里最不舒服」。不用说出来。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第三步那句话是今天带走的唯一一句。写在白板上，写大。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第三种一定要明确说「我们不用」，而且说清为什么。这是对未成年人的保护线。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发解药版任务书。需求不许改 —— 改了就没有对照了。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第三列是全天的重点。空着的那行不算完成。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这四条是下午开发的验收标准。L3 那条加分题最难，但也最值钱。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第⑤段是评审最看重的。讲不出来的，说明只删没换。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最后一页。说完不要再补充任何东西。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上瘾自律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C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被算法困住的少年，用 AI 反杀算法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9月5日 – 6日 · 两天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深圳福田高尔夫大厦 1701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超级富AI玩家俱乐部 主办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3 分钟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先做一件事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48840"/>
            <a:ext cx="11064240" cy="182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380"/>
              </a:lnSpc>
              <a:buNone/>
            </a:pPr>
            <a:r>
              <a:rPr lang="en-US" sz="4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把手机拿出来，</a:t>
            </a:r>
            <a:endParaRPr lang="en-US" sz="4400" dirty="0"/>
          </a:p>
          <a:p>
            <a:pPr indent="0" marL="0">
              <a:lnSpc>
                <a:spcPts val="6380"/>
              </a:lnSpc>
              <a:buNone/>
            </a:pPr>
            <a:r>
              <a:rPr lang="en-US" sz="4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屏幕朝下，放在桌上。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8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426110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不用关机，不用交上来。就放那儿。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然后问：刚刚那三秒，有多少人下意识瞄了一眼有没有新消息？—— 停 3 秒，不要自己回答。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我也瞄了。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11064240" cy="270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那我们今天要搞清楚的第一件事是：</a:t>
            </a:r>
            <a:endParaRPr lang="en-US" sz="3400" dirty="0"/>
          </a:p>
          <a:p>
            <a:pPr indent="0" marL="0">
              <a:lnSpc>
                <a:spcPts val="4930"/>
              </a:lnSpc>
              <a:buNone/>
            </a:pPr>
            <a:endParaRPr lang="en-US" sz="3400" dirty="0"/>
          </a:p>
          <a:p>
            <a:pPr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为什么一个不响的东西，</a:t>
            </a:r>
            <a:endParaRPr lang="en-US" sz="3400" dirty="0"/>
          </a:p>
          <a:p>
            <a:pPr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能让你一直想它？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这两天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你只做一件事的三个阶段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5328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下午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造魔王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21939"/>
            <a:ext cx="2944368" cy="127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做一个故意上瘾的东西。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必须装进至少 3 条钩子，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并在界面上标出来。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34256" y="233172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08576" y="25328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上午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288036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试魔王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608576" y="3321939"/>
            <a:ext cx="2944368" cy="127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玩别人做的魔王，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边玩边打分。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然后你会发现点什么。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119872" y="233172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94192" y="25328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下午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94192" y="288036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拆魔王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8394192" y="3321939"/>
            <a:ext cx="2944368" cy="127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同一个需求，重做一版。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这次的目标是：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让人有能力离开它。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路演讲的就是这条线：我造了一个魔王 → 它咬了谁 → 我怎么拆的 → 那个需要还在吗。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讲这门课的人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我不是来讲一个我查到的理论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28600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休学厌学两年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游戏、短视频、网络社交，熬夜、垃圾食品、不运动、不学习——这些我都干过。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6928" y="3611880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338328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做了一个反上瘾的 App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《拯救魔王》——一个让我自己开始运动的应用。现在我每天去健身房至少一小时。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6928" y="4709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448056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拿了腾讯黑客松金牌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不是因为我技术好，是因为我最懂那个坑——我在里面待了两年。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554126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所以这两天我讲的每一条，我都自己踩过。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 · 一分钟讲完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三条规矩，全程有效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2537460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537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28600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不必说真实经历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所有例子都可以说「我认识的一个人」。桌上有虚构案例卡，随便拿，不用问。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6928" y="3680460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342900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「跳过」是正式动作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任何环节你都可以说「跳过」。不扣分、不追问、不需要理由。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6928" y="4823460"/>
            <a:ext cx="457200" cy="457200"/>
          </a:xfrm>
          <a:prstGeom prst="ellipse">
            <a:avLst/>
          </a:prstGeom>
          <a:solidFill>
            <a:srgbClr val="7A736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4823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457200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这不是治疗课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我们只做产品设计。如果你最近很难受，课后来找我或者找你信得过的大人。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C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04672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· 破解者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246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目标：看懂 Hooked 机制，诊断真实需求，亲手造出一个魔王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0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通关标志：能指着自己做的东西说「这一步我用的是多变酬赏」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9:00 · 现场解剖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选一个你天天用的 App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11064240" cy="145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不用举手，直接喊。</a:t>
            </a:r>
            <a:endParaRPr lang="en-US" sz="3400" dirty="0"/>
          </a:p>
          <a:p>
            <a:pPr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喊出来的第二个，我们今天就拆它。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435254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接下来三步，全场一起拆。我只负责在白板上记，答案都是你们的。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现场解剖 · 第一步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它靠什么让你明天还回来？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每个人说一条。说不出机制没关系，说「它让我……」就行。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752344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什么时候会想起它？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93923"/>
            <a:ext cx="2944368" cy="1268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什么感觉的时候？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无聊？烦？累？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还是它先来找你？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34256" y="251460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08576" y="2752344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打开要几步？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3193923"/>
            <a:ext cx="2944368" cy="1268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解锁到看见第一条内容，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几秒？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中间有没有什么挡你？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119872" y="251460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94192" y="2752344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它给你什么？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394192" y="3193923"/>
            <a:ext cx="2944368" cy="1268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每次都一样吗？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还是「不一定」？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哪一次让你最爽？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追问：具体是哪个界面上的哪个东西？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现场解剖 · 第二步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这一周，它从你这儿拿走了什么？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五个格子，每个格子举手估一个数。不用准，凭感觉。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978762" cy="228600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706624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74543"/>
            <a:ext cx="1430122" cy="14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这周因为它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晚睡了几个小时？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20010" y="2468880"/>
            <a:ext cx="1978762" cy="228600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094330" y="2706624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094330" y="3074543"/>
            <a:ext cx="1430122" cy="14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这周有几天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完全没动过？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91379" y="2468880"/>
            <a:ext cx="1978762" cy="228600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365699" y="2706624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365699" y="3074543"/>
            <a:ext cx="1430122" cy="14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有没有哪次作业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是因为它拖到最后？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62749" y="2468880"/>
            <a:ext cx="1978762" cy="228600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637069" y="2706624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637069" y="3074543"/>
            <a:ext cx="1430122" cy="14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有没有因为它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跟谁吵过、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或者拒绝过谁？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34118" y="2468880"/>
            <a:ext cx="1978762" cy="228600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908438" y="2706624"/>
            <a:ext cx="1430122" cy="4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心情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908438" y="3074543"/>
            <a:ext cx="1430122" cy="14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刷完之后，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比刷之前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更好还是更空？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现场解剖 · 停一下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把这两个数字并排写在一起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38581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一周回访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80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 次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6227064" y="2194560"/>
            <a:ext cx="538581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9672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这一周的代价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2880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 格</a:t>
            </a:r>
            <a:endParaRPr lang="en-US" sz="54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4764024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这两个数字，从来不会出现在同一张 PPT 上。公司的会议室里只有左边那个。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669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右边那个，是你在付。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今天第一条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留存、日活、连续签到，</a:t>
            </a:r>
            <a:endParaRPr lang="en-US" sz="4600" dirty="0"/>
          </a:p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是公司的成绩单，不是你的。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一个东西让你天天回来，不证明它对你好。这两件事今天要一直分开。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现场解剖 · 第三步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如果只让你改一处，你改哪？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注意：不能答「把它删了」。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11064240" cy="9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90"/>
              </a:lnSpc>
              <a:buNone/>
            </a:pPr>
            <a:r>
              <a:rPr lang="en-US" sz="4200" b="1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「把它删了」不算答案。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343814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因为你要回答：原来它给你的那个东西（放松？归属？掌控？新鲜？）——去哪了？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72000"/>
            <a:ext cx="11064240" cy="93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只删不换，等于没改。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9:55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规则参与者　→　规则设计者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FF2F0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规则参与者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我今天又刷了三小时，我好没用。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把问题归因到自己身上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解决办法只有一个：更用力地忍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忍不住 → 更讨厌自己 → 更想逃 → 循环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27064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0FAF3"/>
          </a:solidFill>
          <a:ln w="19050">
            <a:solidFill>
              <a:srgbClr val="1E9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规则设计者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这个东西在第几步抓住我的？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把问题归因到设计上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解决办法有很多：改一步就够了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改不动 → 换一个 → 继续试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注意，右边那句里面没有骂自己。这两天我们都不骂自己 —— 骂自己不是自律，只是一种更累的躺平。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模型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四步，一个闭环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这是一本真书里的模型。作者写它，是教公司怎么让你回来的。我们要反着用。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254660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0829"/>
            <a:ext cx="1997964" cy="9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让你想起它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387852" y="2377440"/>
            <a:ext cx="254660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662172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62172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62172" y="3330829"/>
            <a:ext cx="1997964" cy="9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让你做起来毫不费力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227064" y="2377440"/>
            <a:ext cx="254660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501384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01384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多变酬赏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501384" y="3330829"/>
            <a:ext cx="1997964" cy="9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让你猜不到下一次给什么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9066276" y="2377440"/>
            <a:ext cx="254660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340596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340596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9340596" y="3330829"/>
            <a:ext cx="1997964" cy="9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让你往里放东西，越放越走不掉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" y="485546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转完一圈，下一次触发就更容易了 —— 这个循环，是你自己一点一点喂大的。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①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触发：分两种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385816" cy="3017520"/>
          </a:xfrm>
          <a:prstGeom prst="roundRect">
            <a:avLst>
              <a:gd name="adj" fmla="val 2727"/>
            </a:avLst>
          </a:prstGeom>
          <a:solidFill>
            <a:srgbClr val="FFF2F0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243230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外部触发 · 在外面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77977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看得见，所以关得掉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785616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红点、未读数字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推送、「限时」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好友发来「在吗」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上一条播完，下一条自动开始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旁边的人正在刷手机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27064" y="2194560"/>
            <a:ext cx="5385816" cy="3017520"/>
          </a:xfrm>
          <a:prstGeom prst="roundRect">
            <a:avLst>
              <a:gd name="adj" fmla="val 2727"/>
            </a:avLst>
          </a:prstGeom>
          <a:solidFill>
            <a:srgbClr val="F0FAF3"/>
          </a:solidFill>
          <a:ln w="19050">
            <a:solidFill>
              <a:srgbClr val="1E9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43230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内部触发 · 在里面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277977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它不是东西，是一种感觉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3785616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无聊，不知道干什么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作业太难，看一眼就烦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刚被拒绝、被说了一句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一个人，没人说话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很累，但就是不想睡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怎么做到的？—— 配对。你烦的时候刷了一次，舒服了；重复几百次，「烦」和「刷」就焊在一起了。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行动：目标只有一个字 —— easy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M × A × T：动机、能力、触发同时出现，行为才发生。缺一个都不发生。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706624"/>
            <a:ext cx="1051560" cy="73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要花时间的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441448" y="246888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715768" y="2706624"/>
            <a:ext cx="1051560" cy="73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要花钱的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4256" y="246888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08576" y="2706624"/>
            <a:ext cx="1051560" cy="73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要费体力的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27064" y="246888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501384" y="2706624"/>
            <a:ext cx="1051560" cy="73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要费脑子的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119872" y="246888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394192" y="2706624"/>
            <a:ext cx="1051560" cy="73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人前不好意思的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246888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10287000" y="2706624"/>
            <a:ext cx="1051560" cy="73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要改习惯的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840480"/>
            <a:ext cx="11064240" cy="137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六种障碍，全部拆掉。</a:t>
            </a:r>
            <a:endParaRPr lang="en-US" sz="3200" dirty="0"/>
          </a:p>
          <a:p>
            <a:pPr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然后你躺着，一根手指，往上滑。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② · 一个坑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有两种摩擦，别搞混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这个坑今天下午做产品的时候，一定有人会掉进去。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385816" cy="2743200"/>
          </a:xfrm>
          <a:prstGeom prst="roundRect">
            <a:avLst>
              <a:gd name="adj" fmla="val 3000"/>
            </a:avLst>
          </a:prstGeom>
          <a:solidFill>
            <a:srgbClr val="FFF2F0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" y="261518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该拆的摩擦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96265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拆掉它，学习照样发生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968496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登录要输三次密码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安装配置搞半小时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提交作业要走五个步骤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找不到那个按钮在哪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27064" y="2377440"/>
            <a:ext cx="5385816" cy="2743200"/>
          </a:xfrm>
          <a:prstGeom prst="roundRect">
            <a:avLst>
              <a:gd name="adj" fmla="val 3000"/>
            </a:avLst>
          </a:prstGeom>
          <a:solidFill>
            <a:srgbClr val="F0FAF3"/>
          </a:solidFill>
          <a:ln w="19050">
            <a:solidFill>
              <a:srgbClr val="1E9E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261518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不该拆的摩擦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296265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拆掉它，学习就停了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519672" y="3968496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想不明白代码为什么错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自己调试的那个过程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把大问题拆成小问题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解释给别人听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540410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判断方法只有一句：拆掉这个摩擦之后，学习还发生吗？不发生 —— 那它就是必要难度。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③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多变酬赏：全场最狠的一步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11064240" cy="167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让你上头的不是奖励本身，</a:t>
            </a:r>
            <a:endParaRPr lang="en-US" sz="4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是等奖励的那几秒。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3794760"/>
            <a:ext cx="538581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4032504"/>
            <a:ext cx="4837176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每次都给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74083"/>
            <a:ext cx="4837176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动物按得不多。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人也一样 —— 没劲。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27064" y="3794760"/>
            <a:ext cx="538581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01384" y="4032504"/>
            <a:ext cx="4837176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不一定给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501384" y="4474083"/>
            <a:ext cx="4837176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动物按疯了。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记住那个词：不一定。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③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 = 停不下来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你刷短视频停不下来，不是因为每条都好看 —— 恰恰相反，大部分都不好看。就是因为大部分不好看，你才要接着刷，因为下一条「说不定」就是那条特别好笑的。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③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酬赏分三类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你打开一个 App，先想想它给你的是哪一种。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5786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社交酬赏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有人回我了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67659"/>
            <a:ext cx="2944368" cy="1186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被点赞、被夸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队友说「你好强」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群里有我的位置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334256" y="237744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08576" y="25786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猎物酬赏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08576" y="292608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刷到好东西了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4608576" y="3367659"/>
            <a:ext cx="2944368" cy="1186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刷到一条特别好笑的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抽到了稀有的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免费领到了什么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119872" y="237744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394192" y="25786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自我酬赏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394192" y="292608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我变强了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394192" y="3367659"/>
            <a:ext cx="2944368" cy="1186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通关、升级了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进度条变满了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我终于掌控了一件事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508406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它给你的那一类，通常就是你现实里缺的那一类。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Hooked ④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投入：这一步最阴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前三步都是它给你。第四步，是你给它。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606040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37744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收藏、点关注、加了群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你越放，它越懂你 —— 它就有更多东西可以推给你了。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66928" y="3703320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47472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连续记录、充值、练熟操作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有个实验：大学生自己折的纸青蛙，出价大概是旁观者的 5 倍。明明折得很难看。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457200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在里面交了朋友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你舍不得走，不完全因为它好玩 —— 是因为你在里面。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558698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投入完之后，下一次触发变容易了。闭环合上了。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拆完之后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你上一次刷到凌晨一点，</a:t>
            </a:r>
            <a:endParaRPr lang="en-US" sz="4600" dirty="0"/>
          </a:p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不是因为你意志力差。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是因为有一整个团队，拿着工资，每天开会研究怎么让你多待五分钟 —— 而你一个人在那儿扛。这不是一场公平的战斗。所以接下来两天，我们不打算靠意志力赢，我们打算改设计。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10:55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能做什么，不能做什么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385816" cy="2834640"/>
          </a:xfrm>
          <a:prstGeom prst="roundRect">
            <a:avLst>
              <a:gd name="adj" fmla="val 2903"/>
            </a:avLst>
          </a:prstGeom>
          <a:solidFill>
            <a:srgbClr val="FFF2F0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它能做的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把你想好的东西做出来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77056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你用中文说，它写代码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十分钟出一个能点的界面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帮你改、帮你换配色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帮你想你没想到的做法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27064" y="2286000"/>
            <a:ext cx="5385816" cy="2834640"/>
          </a:xfrm>
          <a:prstGeom prst="roundRect">
            <a:avLst>
              <a:gd name="adj" fmla="val 2903"/>
            </a:avLst>
          </a:prstGeom>
          <a:solidFill>
            <a:srgbClr val="F0FAF3"/>
          </a:solidFill>
          <a:ln w="19050">
            <a:solidFill>
              <a:srgbClr val="1E9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它做不到的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替你决定要做什么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3877056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它不知道你为什么难受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它会一本正经地编数字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它写的代码经常跑不起来</a:t>
            </a:r>
            <a:endParaRPr lang="en-US" sz="1150" dirty="0"/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它不会替你承担后果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535838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现场演示：我让它说一个研究的数字，然后我们一起去原书里找 —— 找不到。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11:20 · 需求诊断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五步，找到你真正要做的东西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不接受「我想少玩点手机」这种答案 —— 那不是需求，那是愿望。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40233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24023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28600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写下你的一个循环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就用刚才现场拆的那个，或者你自己的。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66928" y="322021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3220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10388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它给你的酬赏是哪一类？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社交（有人回我）／猎物（刷到好东西）／自我（我变强了）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66928" y="403809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4038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392176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那你缺的是哪种心理营养？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社交酬赏 → 归属感　｜　猎物酬赏 → 新鲜与控制力　｜　自我酬赏 → 胜任感与自主性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66928" y="485597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6928" y="4855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225296" y="473964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现实里，哪一刻最缺？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具体到时间、地点、场景。不接受「平时」「有时候」。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6928" y="567385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6928" y="56738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225296" y="555752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我要做一个＿＿，帮＿＿在＿＿的时候，用＿＿满足＿＿的需要。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14:00 · 任务书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今天你不是在做产品。</a:t>
            </a:r>
            <a:endParaRPr lang="en-US" sz="4600" dirty="0"/>
          </a:p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你是在做一台机器。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它的唯一 KPI 是：让人明天还回来。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魔王版 · 必做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挑至少 3 条装进去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并且在界面上标出来：这里我用的是哪一条。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49300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478024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内部触发绑定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19603"/>
            <a:ext cx="2944368" cy="69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让某种情绪一出现，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人就想打开你的东西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34256" y="2240280"/>
            <a:ext cx="349300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08576" y="2478024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摩擦清零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2919603"/>
            <a:ext cx="2944368" cy="69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让「开始」变成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一根手指的事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119872" y="2240280"/>
            <a:ext cx="349300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94192" y="2478024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多变酬赏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394192" y="2919603"/>
            <a:ext cx="2944368" cy="69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让人猜不到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下一次会得到什么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105656"/>
            <a:ext cx="349300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" y="434340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期待前置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784979"/>
            <a:ext cx="2944368" cy="69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让等待本身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比结果更有劲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334256" y="4105656"/>
            <a:ext cx="349300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608576" y="434340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投入沉淀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4608576" y="4784979"/>
            <a:ext cx="2944368" cy="69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让人往里放东西，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越放越走不掉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119872" y="4105656"/>
            <a:ext cx="349300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394192" y="4343400"/>
            <a:ext cx="2944368" cy="49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未完成张力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8394192" y="4784979"/>
            <a:ext cx="2944368" cy="69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让人心里一直挂着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那件没做完的事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548640" y="587959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248" y="5934456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每装一条，写一句：我预计它会让人＿＿＿＿ —— 明天要用这句话对照。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魔王版 · 规则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四条规矩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2490121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4901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331720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不发布、不带走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魔王版不上台路演，不进作品档案，明天中午归档封存。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566928" y="344700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34470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3288602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只在营内出现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只有组内和明天的交叉试玩会用到它。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566928" y="4403884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44038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4245483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必须标注机制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在界面上写清楚每一处用的是哪一条 —— 这是明天的核心材料。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566928" y="5360765"/>
            <a:ext cx="457200" cy="457200"/>
          </a:xfrm>
          <a:prstGeom prst="ellipse">
            <a:avLst/>
          </a:prstGeom>
          <a:solidFill>
            <a:srgbClr val="7A736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66928" y="53607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25296" y="5202365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随时可以不做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不想做魔王版的，直接做解药版，两天都做解药版 —— 不影响任何评分。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DAY1 17:10 · 今天最后一句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明天早上，</a:t>
            </a:r>
            <a:endParaRPr lang="en-US" sz="4600" dirty="0"/>
          </a:p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你们要互相玩对方做的魔王。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今天晚上回去，先想一个问题，不用回答我 —— 如果这个东西装在你弟弟妹妹的手机上，你愿意吗？　明天见。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C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04672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· 创造者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246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目标：测出问题，学会反制，把魔王重做成解药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0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通关标志：能说出「我删掉了什么，换成了什么，那个需要还在」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9:15 · 交叉试玩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今天先玩别人的魔王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每人玩另外两组的，边玩边打分。趁感觉还在的时候打。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444401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244440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286000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真的去用它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不是看一眼。至少用满 8 分钟，跟着它的引导走。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566928" y="340128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34012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242882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边玩边填弹性尺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玩完一个立刻填，不要攒到最后 —— 感觉过一会儿就没了。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566928" y="4358164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43581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4199763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找那句话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做这个魔王的人昨天写了「我预计它会让人＿＿」。你现在真的被那样了吗？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566928" y="5315045"/>
            <a:ext cx="457200" cy="457200"/>
          </a:xfrm>
          <a:prstGeom prst="ellipse">
            <a:avLst/>
          </a:prstGeom>
          <a:solidFill>
            <a:srgbClr val="7A736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6928" y="53150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225296" y="5156644"/>
            <a:ext cx="9921240" cy="77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15"/>
              </a:lnSpc>
              <a:buNone/>
            </a:pPr>
            <a:r>
              <a:rPr lang="en-US" sz="195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匿名写反馈</a:t>
            </a:r>
            <a:endParaRPr lang="en-US" sz="1950" dirty="0"/>
          </a:p>
          <a:p>
            <a:pPr indent="0" marL="0">
              <a:lnSpc>
                <a:spcPts val="2115"/>
              </a:lnSpc>
              <a:buNone/>
            </a:pPr>
            <a:r>
              <a:rPr lang="en-US" sz="14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不写名字，减少人情客套。写具体的，不要写「挺好的」。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10:15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现在把分数贴出来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产品匿名，只贴分数。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11064240" cy="1232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20"/>
              </a:lnSpc>
              <a:buNone/>
            </a:pPr>
            <a:r>
              <a:rPr lang="en-US" sz="56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这些产品，是谁做的？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206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（等。不要自己答。）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10:15 · 现在才公布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9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四条红线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你们刚才是自己测出来的 —— 我没有提前告诉你们，是故意的。一条被宣布的规则，和一条自己撞出来的规则，重量差十倍。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四条红线 · 两天有效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这四条，任何一条都要改掉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54660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随机奖励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30829"/>
            <a:ext cx="1997964" cy="113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抽卡、随机掉落、盲盒、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「差一点就成功」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387852" y="2377440"/>
            <a:ext cx="254660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62172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662172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公开排名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62172" y="3330829"/>
            <a:ext cx="1997964" cy="113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排行榜、公开点赞数、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谁比谁强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227064" y="2377440"/>
            <a:ext cx="254660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01384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01384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归零惩罚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6501384" y="3330829"/>
            <a:ext cx="1997964" cy="113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连续记录清零、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没完成扣资格、扣钱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9066276" y="2377440"/>
            <a:ext cx="254660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340596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340596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焦虑逼迫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340596" y="3330829"/>
            <a:ext cx="1997964" cy="113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倒计时、限时、稀缺、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「你的朋友都完成了」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" y="5038344"/>
            <a:ext cx="10515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一个产品越精致，红线的杀伤力越大 —— 因为更多人会留下来被它伤到。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今天最大的陷阱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用上瘾对抗上瘾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你们下午会很想用同一套东西来做自律 App。既然抽卡这么管用，用它来让人运动不就行了？—— 可以。然后你会做出一个逼人运动的东西。它会在第 19 天连续记录断掉的时候，让那个人把整个 App 删了，而且比开始之前更讨厌运动。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10:55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Anti-hooked：反过来的四步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同一个结构，反过来用。一一对应。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2546604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对应触发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内部触因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0829"/>
            <a:ext cx="1997964" cy="104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先给情绪命名，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不给自己定罪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387852" y="2377440"/>
            <a:ext cx="2546604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662172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对应行动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62172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62172" y="3330829"/>
            <a:ext cx="1997964" cy="104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把重要的事和休息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都写进格子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227064" y="2377440"/>
            <a:ext cx="2546604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501384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对应酬赏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01384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外部触因审计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501384" y="3330829"/>
            <a:ext cx="1997964" cy="104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它在为我服务，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还是我在为它服务？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9066276" y="2377440"/>
            <a:ext cx="2546604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340596" y="2578608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对应投入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340596" y="2926080"/>
            <a:ext cx="1997964" cy="4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预先承诺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9340596" y="3330829"/>
            <a:ext cx="1997964" cy="104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在冲动来之前，</a:t>
            </a:r>
            <a:endParaRPr lang="en-US" sz="1450" dirty="0"/>
          </a:p>
          <a:p>
            <a:pPr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先把路改了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" y="4946904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我们不追求「戒掉手机」。做不到，而且分心大部分时候不是手机的错 —— 是你在躲什么。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Anti-hooked ①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分心，通常是在躲一种不舒服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FF2F0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不要这样说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「我又忍不住了，我真没用。」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把行为归因成人格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越压抑越反弹（想想白熊）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失败一次 = 全盘否定自己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27064" y="2286000"/>
            <a:ext cx="5385816" cy="2926080"/>
          </a:xfrm>
          <a:prstGeom prst="roundRect">
            <a:avLst>
              <a:gd name="adj" fmla="val 2813"/>
            </a:avLst>
          </a:prstGeom>
          <a:solidFill>
            <a:srgbClr val="F0FAF3"/>
          </a:solidFill>
          <a:ln w="19050">
            <a:solidFill>
              <a:srgbClr val="1E9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52374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换成这样说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287121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「我现在很烦，因为这道题看了三遍还是不会。」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387705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给情绪起个名字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说出来之后，那股劲通常会小一点</a:t>
            </a:r>
            <a:endParaRPr lang="en-US" sz="1350" dirty="0"/>
          </a:p>
          <a:p>
            <a:pPr marL="342900" indent="-342900">
              <a:lnSpc>
                <a:spcPts val="202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这个做法叫冲动冲浪 —— 你不跟浪打，你等它过去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手机只是最近的那个出口。把手机拿走，你会躲到冰箱、发呆、跟人吵架。所以答案不是「什么都没有」。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Anti-hooked ② ③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时间盒 与 一句话审计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385816" cy="3162745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53288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时间安排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4837176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 = 没按自己的计划走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08654"/>
            <a:ext cx="4837176" cy="158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不是「玩了」就叫分心。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所以你的时间盒里必须有玩的格子 ——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一个没有玩的计划，第二天就会被扔掉。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而且必须你自己排。你妈给你排的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那个叫作息表，不叫时间盒。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27064" y="2331720"/>
            <a:ext cx="5385816" cy="3162745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2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9A8C7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01384" y="253288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外部触因审计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01384" y="2880360"/>
            <a:ext cx="4837176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它在为我服务，</a:t>
            </a:r>
            <a:endParaRPr lang="en-US" sz="2100" dirty="0"/>
          </a:p>
          <a:p>
            <a:pPr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还是我在为它服务？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6501384" y="3708654"/>
            <a:ext cx="4837176" cy="158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一个一个过。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今天回去只做一件事：关掉一个通知。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就一个，那个最烦最没用的。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还有一个更狠但更容易的：</a:t>
            </a:r>
            <a:endParaRPr lang="en-US" sz="1150" dirty="0"/>
          </a:p>
          <a:p>
            <a:pPr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睡觉时手机在房间外面充电。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Anti-hooked ④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三种协议，我们只用前两种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2636647"/>
            <a:ext cx="457200" cy="457200"/>
          </a:xfrm>
          <a:prstGeom prst="ellipse">
            <a:avLst/>
          </a:prstGeom>
          <a:solidFill>
            <a:srgbClr val="1E9E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63664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331720"/>
            <a:ext cx="9921240" cy="106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努力协议 —— 用这个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让不想做的事多一步。手机放客厅、专注时段屏蔽推荐。不是锁死，是多加一步。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6928" y="3886581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38865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△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3581654"/>
            <a:ext cx="9921240" cy="106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身份协议 —— 小心用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不要说「我是一个自律的人」，哪天没做到你就变成「我不是」，然后全垮。要说「我正在练习」。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6928" y="5136515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5136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4831588"/>
            <a:ext cx="9921240" cy="106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20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代价协议 —— 我们不用</a:t>
            </a:r>
            <a:endParaRPr lang="en-US" sz="20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做不到就罚钱、扣资格、公开羞辱。对未成年人禁用，你们的产品里也不要有 —— 一个让你输不起的系统，你只会离它远远的。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11:40 · 任务书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同一个需求。同一批用户。</a:t>
            </a:r>
            <a:endParaRPr lang="en-US" sz="4600" dirty="0"/>
          </a:p>
          <a:p>
            <a:pPr indent="0" marL="0">
              <a:lnSpc>
                <a:spcPts val="69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这次的 KPI 反过来。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让人越来越有能力离开你的产品。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解药版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删换清单 —— 今天唯一的作业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3291840"/>
                <a:gridCol w="38404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33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33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我删掉的机制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33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我换成了什么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63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原来那个需要，靠什么满足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3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3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33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 w="19050">
            <a:solidFill>
              <a:srgbClr val="E6332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41248" y="5175504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第三列空着的，这一行不算完成。只删不换，等于没改。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解药版 · 硬指标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四个必须，一个加分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240233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4023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28600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四条红线一条都不许有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有一条就是不合格，不看别的。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322021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3220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310388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弹性尺 ≥ 40 分（满分 45）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下午做完自己先测一遍。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66928" y="403809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4038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392176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五个维度没有任何一维 ≤ 4 分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总分高但有一维很低，也不算过。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66928" y="485597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66928" y="4855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25296" y="473964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试玩者要勾「我想再用」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不是「我不敢不用」。这两个差别就是今天全部的意义。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66928" y="5673852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6928" y="56738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25296" y="555752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加分：让核心动作发生在屏幕外面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App 只负责记录和反馈，真正的事发生在健身房、操场、书桌前。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 16:20 · 路演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五段式，三分钟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讲的就是你这两天真的走过的那条路。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3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40233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24023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28600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我的循环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我是在什么时候、什么感觉下，做了什么，得到了什么　（30 秒）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66928" y="322021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3220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10388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我造的魔王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我装了哪三条机制，我当时预计它会让人怎样　（40 秒）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66928" y="403809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" y="4038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392176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魔王咬了谁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试玩的人真实的反应，和我预计的差在哪，弹性尺打了多少分　（40 秒）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66928" y="4855972"/>
            <a:ext cx="457200" cy="457200"/>
          </a:xfrm>
          <a:prstGeom prst="ellipse">
            <a:avLst/>
          </a:prstGeom>
          <a:solidFill>
            <a:srgbClr val="E6332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6928" y="4855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225296" y="473964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我怎么拆的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删换清单三行，逐行讲：删了什么、换成什么　（50 秒）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6928" y="5673852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6928" y="56738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225296" y="5557520"/>
            <a:ext cx="9921240" cy="68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5"/>
              </a:lnSpc>
              <a:buNone/>
            </a:pPr>
            <a:r>
              <a:rPr lang="en-US" sz="1700" b="1" dirty="0">
                <a:solidFill>
                  <a:srgbClr val="14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那个需要还在吗</a:t>
            </a:r>
            <a:endParaRPr lang="en-US" sz="1700" dirty="0"/>
          </a:p>
          <a:p>
            <a:pPr indent="0" marL="0">
              <a:lnSpc>
                <a:spcPts val="1815"/>
              </a:lnSpc>
              <a:buNone/>
            </a:pPr>
            <a:r>
              <a:rPr lang="en-US" sz="1210" dirty="0">
                <a:solidFill>
                  <a:srgbClr val="3A3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拆完之后，最开始那个需要靠什么继续满足　（20 秒）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55448" cy="15544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E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两天就到这儿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一个好的自律工具，</a:t>
            </a:r>
            <a:endParaRPr lang="en-US" sz="4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不是让你离不开它。</a:t>
            </a:r>
            <a:endParaRPr lang="en-US" sz="4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是让你越来越有能力离开它。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262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E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回到你自己的生活里。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C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你不是坏掉了。你只是被设计了。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超级富AI玩家俱乐部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 THE SELF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 OUT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上瘾自律 · 两天AI创造营</dc:title>
  <dc:subject>被算法困住的少年，用 AI 反杀算法</dc:subject>
  <dc:creator>超级富AI玩家俱乐部</dc:creator>
  <cp:lastModifiedBy>超级富AI玩家俱乐部</cp:lastModifiedBy>
  <cp:revision>1</cp:revision>
  <dcterms:created xsi:type="dcterms:W3CDTF">2026-09-04T18:50:09Z</dcterms:created>
  <dcterms:modified xsi:type="dcterms:W3CDTF">2026-09-04T18:50:09Z</dcterms:modified>
</cp:coreProperties>
</file>